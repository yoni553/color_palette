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082C-48E4-4CE1-8F43-1A59A7458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A3A87-5490-0E51-35FD-9D5B1E1F6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A3BB0-C39F-D246-7947-79E29695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363F1-C2FF-E9A7-48EF-07CA5AD4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DF8F6-FB8B-31F0-DB5F-5023B8CA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F807-737F-510C-E8C5-5D8BBFDA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4E2A3-C727-98C1-77FC-D0399213A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6AD3-8449-E7BB-6C28-CF9A1C3E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40807-0605-A093-3B35-9A0956CA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6100-3440-A9EC-9133-E67B7480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35F3-19DD-817D-5A95-2FD35A231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16470-109A-21D3-D3DA-9DA37E819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6BCE-FC1D-07DC-19B3-C9220C6A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26E38-973F-D951-C682-79CB5367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BD64-1D59-4E0B-E1AE-D6C0DB16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11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DFD0-B24D-018C-6984-5D63A0C0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897C-2277-7F98-A90B-0D82BF512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82413-8E9E-BDDE-4BFD-03BAB8DE2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F88A7-528D-23C1-51E4-ABDEEAC3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00D89-19AD-9F70-3B77-AD524B2B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E62E9-B272-8E8E-E822-B56F5396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B5330-494B-E101-1001-429F6413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783F7-F4CF-EF0B-C5D6-C6D3075FA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5D4DB-F0C9-B0B7-417D-E9BECFC6C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6B4C6-4A1C-A726-7F20-18BD814B2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362B9-A674-E5D3-B2AB-780D3AC50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F4720-BD55-3F7B-FACC-961BA5F9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D95AD-BA31-9E79-1C57-512F56ACD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C186D-3F46-7F9A-6F36-B52DC40A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41F2-D027-45E9-8A02-67C4FCB9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3839D8-20DA-1ACE-CE89-A91A6D44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C7483-B0C9-DA1F-6AFF-94C3B6D9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7FC61-7899-A4F9-768A-1FB4676F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EEFE4-CD13-EB37-A6E4-98539075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07B74-DBB5-8759-6640-FDFD74FF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1DD2B-9AF9-240B-2986-9D0DA7CCB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5921-A536-8B45-4502-4989B2916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58D20-8204-8736-A6A9-13855A8FC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93EF5-04CF-0550-D9E8-761668ED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3719D-C8ED-132F-8E67-6E1331BE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910EB-4CD4-99FF-E1F7-2ED5E0021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B6A23-932F-BFDA-D525-966E7060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BB2C-9E22-0EC6-A00C-B3349CA7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A8059-80FA-469C-981B-2D32CCEF9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0C0A9-EF2E-7B2D-12FE-A6245F3E3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A2F5C-974B-6D3D-0D0E-0789EA3B8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F6C8E-B4C0-55A4-F25D-8970AF9F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79ADC-13BB-F8D8-7E66-05643860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3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656F-B492-9BDC-FBB8-115FBF73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C63CD-6375-C6A6-FF70-5DC795E09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18CEF-07E2-6F48-CE1C-8CE58E69E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3C3A0-8698-E1DC-DAA0-12511E4A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66CBB-58FC-654B-CBF6-AE9CD7B4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1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9A42C-FB79-1FC3-222C-C38975E3C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A04C7-E343-087C-56AD-1DBB4E717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0449E-9BEA-8DF6-2A7D-45167CB9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FDD50-9453-274F-76C3-55563E89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A7BA-528C-FED2-080D-97BD59A68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9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288BC8-9456-AB6C-9F2E-FF5D9601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278E4-F94C-73A8-2AE2-BD3191F66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0AFFC-0247-5684-418F-D6DC246AD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A4C88-6010-4DBE-A609-D360D5E2B8A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A1CE5-9B1F-7E66-D966-F01FCC54E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9D6B-06AC-BFDA-78CA-3ED0A6910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483CA-800B-45E8-B7D4-A8F6007BD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4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6DD8-C22A-46E1-302B-8B4158895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16482"/>
            <a:ext cx="3269293" cy="1164921"/>
          </a:xfrm>
        </p:spPr>
        <p:txBody>
          <a:bodyPr>
            <a:normAutofit/>
          </a:bodyPr>
          <a:lstStyle/>
          <a:p>
            <a:r>
              <a:rPr lang="bg-BG" sz="2800" dirty="0"/>
              <a:t>Изображението, което избрах:</a:t>
            </a:r>
            <a:endParaRPr lang="en-US" sz="2800" dirty="0"/>
          </a:p>
        </p:txBody>
      </p:sp>
      <p:pic>
        <p:nvPicPr>
          <p:cNvPr id="5" name="Picture 4" descr="Long shot of a reptile in water&#10;&#10;AI-generated content may be incorrect.">
            <a:extLst>
              <a:ext uri="{FF2B5EF4-FFF2-40B4-BE49-F238E27FC236}">
                <a16:creationId xmlns:a16="http://schemas.microsoft.com/office/drawing/2014/main" id="{EBCBA83E-4A2F-7E14-713D-E26210588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293" y="380743"/>
            <a:ext cx="4733133" cy="609651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955E105-F445-391A-9DD8-56C8AD6F965A}"/>
              </a:ext>
            </a:extLst>
          </p:cNvPr>
          <p:cNvSpPr txBox="1">
            <a:spLocks/>
          </p:cNvSpPr>
          <p:nvPr/>
        </p:nvSpPr>
        <p:spPr>
          <a:xfrm>
            <a:off x="8014569" y="6096514"/>
            <a:ext cx="2784953" cy="380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James Gurney</a:t>
            </a:r>
          </a:p>
        </p:txBody>
      </p:sp>
    </p:spTree>
    <p:extLst>
      <p:ext uri="{BB962C8B-B14F-4D97-AF65-F5344CB8AC3E}">
        <p14:creationId xmlns:p14="http://schemas.microsoft.com/office/powerpoint/2010/main" val="285309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DC5A-5DBF-B123-44B4-C567A63F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54" y="427757"/>
            <a:ext cx="2305833" cy="812322"/>
          </a:xfrm>
        </p:spPr>
        <p:txBody>
          <a:bodyPr>
            <a:normAutofit/>
          </a:bodyPr>
          <a:lstStyle/>
          <a:p>
            <a:r>
              <a:rPr lang="en-US" sz="2800" dirty="0"/>
              <a:t>Sample</a:t>
            </a:r>
          </a:p>
        </p:txBody>
      </p:sp>
      <p:pic>
        <p:nvPicPr>
          <p:cNvPr id="5" name="Picture 4" descr="A close-up of a rock&#10;&#10;AI-generated content may be incorrect.">
            <a:extLst>
              <a:ext uri="{FF2B5EF4-FFF2-40B4-BE49-F238E27FC236}">
                <a16:creationId xmlns:a16="http://schemas.microsoft.com/office/drawing/2014/main" id="{4336A01B-D336-DC2D-B1E5-ED7900F0D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3" y="1738006"/>
            <a:ext cx="3762429" cy="3381988"/>
          </a:xfrm>
          <a:prstGeom prst="rect">
            <a:avLst/>
          </a:prstGeom>
        </p:spPr>
      </p:pic>
      <p:pic>
        <p:nvPicPr>
          <p:cNvPr id="7" name="Picture 6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E9FF084A-C329-E235-0417-69F74DE31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891" y="1738006"/>
            <a:ext cx="2652787" cy="3381988"/>
          </a:xfrm>
          <a:prstGeom prst="rect">
            <a:avLst/>
          </a:prstGeom>
        </p:spPr>
      </p:pic>
      <p:pic>
        <p:nvPicPr>
          <p:cNvPr id="9" name="Picture 8" descr="A pie chart with numbers and a number of percentages&#10;&#10;AI-generated content may be incorrect.">
            <a:extLst>
              <a:ext uri="{FF2B5EF4-FFF2-40B4-BE49-F238E27FC236}">
                <a16:creationId xmlns:a16="http://schemas.microsoft.com/office/drawing/2014/main" id="{9D72DC86-2DC3-2AC5-62C4-7399B1A522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462" y="1738006"/>
            <a:ext cx="3965771" cy="338198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17C0192-141B-2631-B523-B0E2E63CF3B4}"/>
              </a:ext>
            </a:extLst>
          </p:cNvPr>
          <p:cNvSpPr txBox="1">
            <a:spLocks/>
          </p:cNvSpPr>
          <p:nvPr/>
        </p:nvSpPr>
        <p:spPr>
          <a:xfrm>
            <a:off x="4435259" y="429629"/>
            <a:ext cx="2305833" cy="812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Dominant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3EDC4-2A4B-DF32-8B9A-A2A30FD18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2677" y="1738006"/>
            <a:ext cx="2095355" cy="3930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500" dirty="0"/>
              <a:t>Открити рудници - 111</a:t>
            </a:r>
            <a:endParaRPr lang="en-US" sz="1500" dirty="0"/>
          </a:p>
          <a:p>
            <a:pPr marL="0" indent="0">
              <a:buNone/>
            </a:pPr>
            <a:r>
              <a:rPr lang="bg-BG" sz="1500" dirty="0"/>
              <a:t>Индустриални или търговски обекти - 112</a:t>
            </a:r>
          </a:p>
          <a:p>
            <a:pPr marL="0" indent="0">
              <a:buNone/>
            </a:pPr>
            <a:r>
              <a:rPr lang="bg-BG" sz="1500" dirty="0"/>
              <a:t>Летища - 121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bg-BG" sz="1500" dirty="0"/>
              <a:t>Лозя – 122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bg-BG" sz="1500" dirty="0"/>
              <a:t>Преходна дървесно – храстова растителност - 123</a:t>
            </a:r>
          </a:p>
          <a:p>
            <a:pPr marL="0" indent="0">
              <a:buNone/>
            </a:pPr>
            <a:r>
              <a:rPr lang="bg-BG" sz="1500" dirty="0"/>
              <a:t>Места за спорт и отдих - 124</a:t>
            </a:r>
          </a:p>
          <a:p>
            <a:pPr marL="0" indent="0">
              <a:buNone/>
            </a:pPr>
            <a:endParaRPr lang="bg-BG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14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B3BA-A6CA-CC44-7C45-172DB24B5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257" y="517526"/>
            <a:ext cx="1867422" cy="962349"/>
          </a:xfrm>
        </p:spPr>
        <p:txBody>
          <a:bodyPr>
            <a:normAutofit/>
          </a:bodyPr>
          <a:lstStyle/>
          <a:p>
            <a:r>
              <a:rPr lang="en-US" sz="2800" dirty="0"/>
              <a:t>Dominant Colors</a:t>
            </a:r>
          </a:p>
        </p:txBody>
      </p:sp>
      <p:pic>
        <p:nvPicPr>
          <p:cNvPr id="5" name="Picture 4" descr="A close-up of a painting&#10;&#10;AI-generated content may be incorrect.">
            <a:extLst>
              <a:ext uri="{FF2B5EF4-FFF2-40B4-BE49-F238E27FC236}">
                <a16:creationId xmlns:a16="http://schemas.microsoft.com/office/drawing/2014/main" id="{AA50127B-00B4-3076-2B4D-C652B6DD0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0" y="2220565"/>
            <a:ext cx="3752995" cy="2201124"/>
          </a:xfrm>
          <a:prstGeom prst="rect">
            <a:avLst/>
          </a:prstGeom>
        </p:spPr>
      </p:pic>
      <p:pic>
        <p:nvPicPr>
          <p:cNvPr id="7" name="Picture 6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C95019B5-A9EB-9457-4475-3FAE31F05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791" y="1749577"/>
            <a:ext cx="2721411" cy="32357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328506F-DA7F-BF68-FCAC-E602362D1DCA}"/>
              </a:ext>
            </a:extLst>
          </p:cNvPr>
          <p:cNvSpPr txBox="1">
            <a:spLocks/>
          </p:cNvSpPr>
          <p:nvPr/>
        </p:nvSpPr>
        <p:spPr>
          <a:xfrm>
            <a:off x="1003126" y="429701"/>
            <a:ext cx="1867422" cy="1050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AE1C-03BE-0D93-0096-7C8FEA9AC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2423" y="1749576"/>
            <a:ext cx="1997645" cy="4037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500" dirty="0"/>
              <a:t>Обработваеми земи - 131</a:t>
            </a:r>
            <a:endParaRPr lang="bg-BG" sz="1800" dirty="0"/>
          </a:p>
          <a:p>
            <a:pPr marL="0" indent="0">
              <a:lnSpc>
                <a:spcPct val="150000"/>
              </a:lnSpc>
              <a:buNone/>
            </a:pPr>
            <a:r>
              <a:rPr lang="bg-BG" sz="1500" dirty="0"/>
              <a:t>Почви - 132</a:t>
            </a:r>
          </a:p>
          <a:p>
            <a:pPr marL="0" indent="0">
              <a:buNone/>
            </a:pPr>
            <a:r>
              <a:rPr lang="bg-BG" sz="1500" dirty="0"/>
              <a:t>Зелени площи в населени места - 133</a:t>
            </a:r>
          </a:p>
          <a:p>
            <a:pPr marL="0" indent="0">
              <a:buNone/>
            </a:pPr>
            <a:r>
              <a:rPr lang="bg-BG" sz="1500" dirty="0"/>
              <a:t>Площи с рядка растителност - 141</a:t>
            </a:r>
          </a:p>
          <a:p>
            <a:pPr marL="0" indent="0">
              <a:buNone/>
            </a:pPr>
            <a:r>
              <a:rPr lang="bg-BG" sz="1500" dirty="0"/>
              <a:t>Блата - 142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bg-BG" sz="1500" dirty="0"/>
              <a:t>Земеделски земи със значителни участъци естествена растителност - 211</a:t>
            </a: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6" name="Picture 5" descr="A pie chart with numbers and a number of percentages&#10;&#10;AI-generated content may be incorrect.">
            <a:extLst>
              <a:ext uri="{FF2B5EF4-FFF2-40B4-BE49-F238E27FC236}">
                <a16:creationId xmlns:a16="http://schemas.microsoft.com/office/drawing/2014/main" id="{E2A04E60-984A-3694-A48F-FA24DD2BB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915" y="1749578"/>
            <a:ext cx="3895666" cy="323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0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1C31-E16A-1960-62E6-2B75CA89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49" y="377651"/>
            <a:ext cx="1692058" cy="1025263"/>
          </a:xfrm>
        </p:spPr>
        <p:txBody>
          <a:bodyPr>
            <a:normAutofit/>
          </a:bodyPr>
          <a:lstStyle/>
          <a:p>
            <a:r>
              <a:rPr lang="en-US" sz="2800" dirty="0"/>
              <a:t>Sample</a:t>
            </a:r>
          </a:p>
        </p:txBody>
      </p:sp>
      <p:pic>
        <p:nvPicPr>
          <p:cNvPr id="7" name="Picture 6" descr="A close-up of a stone wall&#10;&#10;AI-generated content may be incorrect.">
            <a:extLst>
              <a:ext uri="{FF2B5EF4-FFF2-40B4-BE49-F238E27FC236}">
                <a16:creationId xmlns:a16="http://schemas.microsoft.com/office/drawing/2014/main" id="{C82AF4A2-CD6D-8E98-AA75-3F64D9319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8664"/>
            <a:ext cx="4146498" cy="2500672"/>
          </a:xfrm>
          <a:prstGeom prst="rect">
            <a:avLst/>
          </a:prstGeom>
        </p:spPr>
      </p:pic>
      <p:pic>
        <p:nvPicPr>
          <p:cNvPr id="9" name="Picture 8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C67190E0-E3A3-258A-CA7B-BA49B525F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956" y="1745735"/>
            <a:ext cx="2577647" cy="343686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8A6D2A4-A716-56A7-EB1B-13F857B9437D}"/>
              </a:ext>
            </a:extLst>
          </p:cNvPr>
          <p:cNvSpPr txBox="1">
            <a:spLocks/>
          </p:cNvSpPr>
          <p:nvPr/>
        </p:nvSpPr>
        <p:spPr>
          <a:xfrm>
            <a:off x="4573045" y="377653"/>
            <a:ext cx="1692058" cy="1025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Dominant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F2BAD-C7DF-6736-074E-DD9D7A34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5603" y="1745733"/>
            <a:ext cx="1943871" cy="3865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500" dirty="0"/>
              <a:t>Трайни насаждения</a:t>
            </a:r>
          </a:p>
          <a:p>
            <a:pPr marL="0" indent="0">
              <a:buNone/>
            </a:pPr>
            <a:r>
              <a:rPr lang="bg-BG" sz="1500" dirty="0"/>
              <a:t>- 212</a:t>
            </a:r>
          </a:p>
          <a:p>
            <a:pPr marL="0" indent="0">
              <a:buNone/>
            </a:pPr>
            <a:r>
              <a:rPr lang="bg-BG" sz="1500" dirty="0"/>
              <a:t>Пасища - 213</a:t>
            </a:r>
          </a:p>
          <a:p>
            <a:pPr marL="0" indent="0">
              <a:buNone/>
            </a:pPr>
            <a:endParaRPr lang="bg-BG" sz="1500" dirty="0"/>
          </a:p>
          <a:p>
            <a:pPr marL="0" indent="0">
              <a:buNone/>
            </a:pPr>
            <a:r>
              <a:rPr lang="bg-BG" sz="1500" dirty="0"/>
              <a:t>Оризища - 221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bg-BG" sz="1500" dirty="0"/>
              <a:t>Дюни - 222</a:t>
            </a:r>
          </a:p>
          <a:p>
            <a:pPr marL="0" indent="0">
              <a:buNone/>
            </a:pPr>
            <a:r>
              <a:rPr lang="bg-BG" sz="1500" dirty="0"/>
              <a:t>Овощни и ягодови насаждения - 231</a:t>
            </a:r>
          </a:p>
          <a:p>
            <a:pPr marL="0" indent="0">
              <a:buNone/>
            </a:pPr>
            <a:r>
              <a:rPr lang="bg-BG" sz="1500" dirty="0"/>
              <a:t>Комплекси от раздробени земеделски земи - 242</a:t>
            </a:r>
            <a:endParaRPr lang="en-US" sz="1500" dirty="0"/>
          </a:p>
        </p:txBody>
      </p:sp>
      <p:pic>
        <p:nvPicPr>
          <p:cNvPr id="6" name="Picture 5" descr="A pie chart with numbers and a number of percentages&#10;&#10;AI-generated content may be incorrect.">
            <a:extLst>
              <a:ext uri="{FF2B5EF4-FFF2-40B4-BE49-F238E27FC236}">
                <a16:creationId xmlns:a16="http://schemas.microsoft.com/office/drawing/2014/main" id="{26A9CB42-130B-B514-ED49-A35648441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662" y="1745735"/>
            <a:ext cx="3982048" cy="343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13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C958-C2B4-DE1F-26D3-1B66836B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767214" cy="812322"/>
          </a:xfrm>
        </p:spPr>
        <p:txBody>
          <a:bodyPr>
            <a:normAutofit/>
          </a:bodyPr>
          <a:lstStyle/>
          <a:p>
            <a:r>
              <a:rPr lang="en-US" sz="2800" dirty="0"/>
              <a:t>Sample</a:t>
            </a:r>
          </a:p>
        </p:txBody>
      </p:sp>
      <p:pic>
        <p:nvPicPr>
          <p:cNvPr id="5" name="Picture 4" descr="A painting&#10;&#10;AI-generated content may be incorrect.">
            <a:extLst>
              <a:ext uri="{FF2B5EF4-FFF2-40B4-BE49-F238E27FC236}">
                <a16:creationId xmlns:a16="http://schemas.microsoft.com/office/drawing/2014/main" id="{8348390A-A4C6-697E-C9DD-907712D52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3763"/>
            <a:ext cx="3569072" cy="2199065"/>
          </a:xfrm>
          <a:prstGeom prst="rect">
            <a:avLst/>
          </a:prstGeom>
        </p:spPr>
      </p:pic>
      <p:pic>
        <p:nvPicPr>
          <p:cNvPr id="7" name="Picture 6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8ABED7A9-908F-E3C9-7CCF-2D7ED4567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961" y="1471808"/>
            <a:ext cx="2792236" cy="37229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A29FAE5-BF18-E283-21BC-B4FB2F0876C1}"/>
              </a:ext>
            </a:extLst>
          </p:cNvPr>
          <p:cNvSpPr txBox="1">
            <a:spLocks/>
          </p:cNvSpPr>
          <p:nvPr/>
        </p:nvSpPr>
        <p:spPr>
          <a:xfrm>
            <a:off x="4328786" y="365126"/>
            <a:ext cx="1767214" cy="812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Dominant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EFDBD-E72E-15DF-124F-FB2EB27A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197" y="1471809"/>
            <a:ext cx="1837153" cy="37229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sz="1500" dirty="0"/>
              <a:t>Населени места със свободно застрояване - 243</a:t>
            </a:r>
          </a:p>
          <a:p>
            <a:pPr marL="0" indent="0">
              <a:buNone/>
            </a:pPr>
            <a:r>
              <a:rPr lang="bg-BG" sz="1500" dirty="0"/>
              <a:t>Места за добив на полезни изкопаеми - 311</a:t>
            </a:r>
          </a:p>
          <a:p>
            <a:pPr marL="0" indent="0">
              <a:buNone/>
            </a:pPr>
            <a:r>
              <a:rPr lang="bg-BG" sz="1500" dirty="0"/>
              <a:t>Пристанища - 312</a:t>
            </a:r>
          </a:p>
          <a:p>
            <a:pPr marL="0" indent="0">
              <a:buNone/>
            </a:pPr>
            <a:endParaRPr lang="bg-BG" sz="1500" dirty="0"/>
          </a:p>
          <a:p>
            <a:pPr marL="0" indent="0">
              <a:buNone/>
            </a:pPr>
            <a:r>
              <a:rPr lang="bg-BG" sz="1500" dirty="0"/>
              <a:t>Водни почви - 313</a:t>
            </a:r>
          </a:p>
          <a:p>
            <a:pPr marL="0" indent="0">
              <a:buNone/>
            </a:pPr>
            <a:endParaRPr lang="bg-BG" sz="1500" dirty="0"/>
          </a:p>
          <a:p>
            <a:pPr marL="0" indent="0">
              <a:buNone/>
            </a:pPr>
            <a:r>
              <a:rPr lang="bg-BG" sz="1500" dirty="0"/>
              <a:t>Плодородни почви - 321</a:t>
            </a:r>
          </a:p>
          <a:p>
            <a:pPr marL="0" indent="0">
              <a:buNone/>
            </a:pPr>
            <a:r>
              <a:rPr lang="bg-BG" sz="1500" dirty="0"/>
              <a:t>Естествени тревни площи - 322</a:t>
            </a:r>
            <a:endParaRPr lang="en-US" sz="1500" dirty="0"/>
          </a:p>
        </p:txBody>
      </p:sp>
      <p:pic>
        <p:nvPicPr>
          <p:cNvPr id="6" name="Picture 5" descr="A pie chart with numbers and a number of percentages&#10;&#10;AI-generated content may be incorrect.">
            <a:extLst>
              <a:ext uri="{FF2B5EF4-FFF2-40B4-BE49-F238E27FC236}">
                <a16:creationId xmlns:a16="http://schemas.microsoft.com/office/drawing/2014/main" id="{252DC52F-94F7-5994-5140-C8D16DE77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460" y="1471807"/>
            <a:ext cx="4187121" cy="372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59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9BC8-8CE9-26C9-367A-DA08A28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65" y="458135"/>
            <a:ext cx="1667005" cy="914401"/>
          </a:xfrm>
        </p:spPr>
        <p:txBody>
          <a:bodyPr>
            <a:normAutofit/>
          </a:bodyPr>
          <a:lstStyle/>
          <a:p>
            <a:r>
              <a:rPr lang="en-US" sz="2800" dirty="0"/>
              <a:t>Sample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EE0BDC-6EEF-01BD-2713-19BB6E5A4102}"/>
              </a:ext>
            </a:extLst>
          </p:cNvPr>
          <p:cNvSpPr txBox="1">
            <a:spLocks/>
          </p:cNvSpPr>
          <p:nvPr/>
        </p:nvSpPr>
        <p:spPr>
          <a:xfrm>
            <a:off x="3598089" y="683686"/>
            <a:ext cx="1667005" cy="802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Dominant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936CD-E4BF-CE90-BC06-EE3FB83BD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2845" y="1658981"/>
            <a:ext cx="3129651" cy="4224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1500" dirty="0"/>
              <a:t>Води - 323</a:t>
            </a:r>
          </a:p>
          <a:p>
            <a:pPr marL="0" indent="0">
              <a:buNone/>
            </a:pPr>
            <a:endParaRPr lang="bg-BG" sz="1500" dirty="0"/>
          </a:p>
          <a:p>
            <a:pPr marL="0" indent="0">
              <a:lnSpc>
                <a:spcPct val="100000"/>
              </a:lnSpc>
              <a:buNone/>
            </a:pPr>
            <a:r>
              <a:rPr lang="bg-BG" sz="1500" dirty="0"/>
              <a:t>Широколистни гори - 324</a:t>
            </a:r>
          </a:p>
          <a:p>
            <a:pPr marL="0" indent="0">
              <a:buNone/>
            </a:pPr>
            <a:r>
              <a:rPr lang="bg-BG" sz="1500" dirty="0"/>
              <a:t>Ненапоявана обработваема земя</a:t>
            </a:r>
          </a:p>
          <a:p>
            <a:pPr marL="0" indent="0">
              <a:buNone/>
            </a:pPr>
            <a:r>
              <a:rPr lang="bg-BG" sz="1500" dirty="0"/>
              <a:t>- 331</a:t>
            </a:r>
          </a:p>
          <a:p>
            <a:pPr marL="0" indent="0">
              <a:buNone/>
            </a:pPr>
            <a:r>
              <a:rPr lang="bg-BG" sz="1500" dirty="0"/>
              <a:t>Иглолистни гори - 332</a:t>
            </a:r>
          </a:p>
          <a:p>
            <a:pPr marL="0" indent="0">
              <a:buNone/>
            </a:pPr>
            <a:endParaRPr lang="bg-BG" sz="1500" dirty="0"/>
          </a:p>
          <a:p>
            <a:pPr marL="0" indent="0">
              <a:buNone/>
            </a:pPr>
            <a:r>
              <a:rPr lang="bg-BG" sz="1500" dirty="0"/>
              <a:t>Трайни насаждения - 333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bg-BG" sz="1500" dirty="0"/>
              <a:t>Смесени гори - 334</a:t>
            </a:r>
          </a:p>
          <a:p>
            <a:pPr marL="0" indent="0">
              <a:buNone/>
            </a:pPr>
            <a:r>
              <a:rPr lang="bg-BG" sz="1500" dirty="0"/>
              <a:t>Земеделски земи със значителни участъци естествена растителност - 411</a:t>
            </a:r>
          </a:p>
          <a:p>
            <a:pPr marL="0" indent="0">
              <a:buNone/>
            </a:pPr>
            <a:endParaRPr lang="bg-BG" sz="1800" dirty="0"/>
          </a:p>
        </p:txBody>
      </p:sp>
      <p:pic>
        <p:nvPicPr>
          <p:cNvPr id="11" name="Picture 10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CC6D9B30-B9B9-BEF5-CA29-143B0A1F1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892" y="1658982"/>
            <a:ext cx="2784953" cy="3713271"/>
          </a:xfrm>
          <a:prstGeom prst="rect">
            <a:avLst/>
          </a:prstGeom>
        </p:spPr>
      </p:pic>
      <p:pic>
        <p:nvPicPr>
          <p:cNvPr id="13" name="Picture 12" descr="A pie chart with numbers and a number of percentages&#10;&#10;AI-generated content may be incorrect.">
            <a:extLst>
              <a:ext uri="{FF2B5EF4-FFF2-40B4-BE49-F238E27FC236}">
                <a16:creationId xmlns:a16="http://schemas.microsoft.com/office/drawing/2014/main" id="{0A225869-F687-31EF-BD9B-D3E47D2BA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699" y="1678381"/>
            <a:ext cx="4379877" cy="3693872"/>
          </a:xfrm>
          <a:prstGeom prst="rect">
            <a:avLst/>
          </a:prstGeom>
        </p:spPr>
      </p:pic>
      <p:pic>
        <p:nvPicPr>
          <p:cNvPr id="15" name="Picture 14" descr="A close up of a painting&#10;&#10;AI-generated content may be incorrect.">
            <a:extLst>
              <a:ext uri="{FF2B5EF4-FFF2-40B4-BE49-F238E27FC236}">
                <a16:creationId xmlns:a16="http://schemas.microsoft.com/office/drawing/2014/main" id="{91BC0DB2-8724-8EDA-7FD9-DDC85D5E7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42" y="1167187"/>
            <a:ext cx="1667005" cy="471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1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EFC1-27EC-516C-BB7E-4B274853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85329" cy="636957"/>
          </a:xfrm>
        </p:spPr>
        <p:txBody>
          <a:bodyPr>
            <a:normAutofit fontScale="90000"/>
          </a:bodyPr>
          <a:lstStyle/>
          <a:p>
            <a:r>
              <a:rPr lang="bg-BG" dirty="0"/>
              <a:t>Карта</a:t>
            </a:r>
            <a:endParaRPr lang="en-US" dirty="0"/>
          </a:p>
        </p:txBody>
      </p:sp>
      <p:pic>
        <p:nvPicPr>
          <p:cNvPr id="4" name="Picture 3" descr="A close up of a camouflage&#10;&#10;AI-generated content may be incorrect.">
            <a:extLst>
              <a:ext uri="{FF2B5EF4-FFF2-40B4-BE49-F238E27FC236}">
                <a16:creationId xmlns:a16="http://schemas.microsoft.com/office/drawing/2014/main" id="{7C873BD7-F3E5-55A0-875E-749B7341B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351" y="1266701"/>
            <a:ext cx="8607298" cy="495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3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8409-B172-D1E3-5947-2F2E3C8D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164"/>
          </a:xfrm>
        </p:spPr>
        <p:txBody>
          <a:bodyPr>
            <a:normAutofit/>
          </a:bodyPr>
          <a:lstStyle/>
          <a:p>
            <a:r>
              <a:rPr lang="bg-BG" sz="4000" dirty="0"/>
              <a:t>Карта</a:t>
            </a:r>
            <a:endParaRPr lang="en-US" sz="4000" dirty="0"/>
          </a:p>
        </p:txBody>
      </p:sp>
      <p:pic>
        <p:nvPicPr>
          <p:cNvPr id="6" name="Picture 5" descr="A close up of a pattern&#10;&#10;AI-generated content may be incorrect.">
            <a:extLst>
              <a:ext uri="{FF2B5EF4-FFF2-40B4-BE49-F238E27FC236}">
                <a16:creationId xmlns:a16="http://schemas.microsoft.com/office/drawing/2014/main" id="{1AEE7F38-9137-907E-CFDD-7E3CD4C16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38" y="1344677"/>
            <a:ext cx="7253124" cy="514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7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176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Изображението, което избрах:</vt:lpstr>
      <vt:lpstr>Sample</vt:lpstr>
      <vt:lpstr>Dominant Colors</vt:lpstr>
      <vt:lpstr>Sample</vt:lpstr>
      <vt:lpstr>Sample</vt:lpstr>
      <vt:lpstr>Sample</vt:lpstr>
      <vt:lpstr>Карта</vt:lpstr>
      <vt:lpstr>Карта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Yoana Froloshka</dc:creator>
  <cp:lastModifiedBy>Yoana Froloshka</cp:lastModifiedBy>
  <cp:revision>5</cp:revision>
  <dcterms:created xsi:type="dcterms:W3CDTF">2025-11-25T18:29:00Z</dcterms:created>
  <dcterms:modified xsi:type="dcterms:W3CDTF">2025-11-28T10:29:50Z</dcterms:modified>
</cp:coreProperties>
</file>